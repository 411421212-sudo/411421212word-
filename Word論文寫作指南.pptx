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C45E3-B3B7-EF41-8EE0-B95BE7042228}" type="datetimeFigureOut">
              <a:rPr lang="en-US" altLang="zh-TW" smtClean="0"/>
              <a:t>3/16/2026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B34EA-C348-1840-8923-87124C544B47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374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20240" y="-80010"/>
            <a:ext cx="5303520" cy="530352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148840" y="148590"/>
            <a:ext cx="4846320" cy="484632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8D8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377440" y="377190"/>
            <a:ext cx="4389120" cy="4389120"/>
          </a:xfrm>
          <a:prstGeom prst="ellipse">
            <a:avLst/>
          </a:prstGeom>
          <a:solidFill>
            <a:srgbClr val="FFFFFF">
              <a:alpha val="0"/>
            </a:srgbClr>
          </a:solidFill>
          <a:ln w="3810">
            <a:solidFill>
              <a:srgbClr val="B8D8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377440" y="91440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如何用 Word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撰寫論文或報告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377440" y="3703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57200"/>
            <a:ext cx="4754880" cy="6126480"/>
          </a:xfrm>
          <a:prstGeom prst="ellipse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675120" y="-457200"/>
            <a:ext cx="4754880" cy="6126480"/>
          </a:xfrm>
          <a:prstGeom prst="ellipse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201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68096"/>
            <a:ext cx="8138160" cy="0"/>
          </a:xfrm>
          <a:prstGeom prst="line">
            <a:avLst/>
          </a:prstGeom>
          <a:noFill/>
          <a:ln w="6350">
            <a:solidFill>
              <a:srgbClr val="B8D8E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65760" cy="365760"/>
          </a:xfrm>
          <a:prstGeom prst="ellipse">
            <a:avLst/>
          </a:prstGeom>
          <a:solidFill>
            <a:srgbClr val="B8D8E8">
              <a:alpha val="75000"/>
            </a:srgbClr>
          </a:solidFill>
          <a:ln w="12700">
            <a:solidFill>
              <a:srgbClr val="B8D8E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8961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頁面設定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8961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紙張大小、邊界、方向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399032"/>
            <a:ext cx="8138160" cy="0"/>
          </a:xfrm>
          <a:prstGeom prst="line">
            <a:avLst/>
          </a:prstGeom>
          <a:noFill/>
          <a:ln w="5080">
            <a:solidFill>
              <a:srgbClr val="B8D8E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229600" y="950976"/>
            <a:ext cx="347472" cy="347472"/>
          </a:xfrm>
          <a:prstGeom prst="ellipse">
            <a:avLst/>
          </a:prstGeom>
          <a:solidFill>
            <a:srgbClr val="B8D8E8">
              <a:alpha val="65000"/>
            </a:srgbClr>
          </a:solidFill>
          <a:ln w="12700">
            <a:solidFill>
              <a:srgbClr val="B8D8E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229600" y="950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554480"/>
            <a:ext cx="365760" cy="365760"/>
          </a:xfrm>
          <a:prstGeom prst="ellipse">
            <a:avLst/>
          </a:prstGeom>
          <a:solidFill>
            <a:srgbClr val="B8D8E8">
              <a:alpha val="75000"/>
            </a:srgbClr>
          </a:solidFill>
          <a:ln w="12700">
            <a:solidFill>
              <a:srgbClr val="B8D8E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14904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套用樣式與格式化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4904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標題層級、字型、段落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1993392"/>
            <a:ext cx="8138160" cy="0"/>
          </a:xfrm>
          <a:prstGeom prst="line">
            <a:avLst/>
          </a:prstGeom>
          <a:noFill/>
          <a:ln w="5080">
            <a:solidFill>
              <a:srgbClr val="B8D8E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229600" y="1545336"/>
            <a:ext cx="347472" cy="347472"/>
          </a:xfrm>
          <a:prstGeom prst="ellipse">
            <a:avLst/>
          </a:prstGeom>
          <a:solidFill>
            <a:srgbClr val="B8D8E8">
              <a:alpha val="65000"/>
            </a:srgbClr>
          </a:solidFill>
          <a:ln w="12700">
            <a:solidFill>
              <a:srgbClr val="B8D8E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545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148840"/>
            <a:ext cx="365760" cy="365760"/>
          </a:xfrm>
          <a:prstGeom prst="ellipse">
            <a:avLst/>
          </a:prstGeom>
          <a:solidFill>
            <a:srgbClr val="B8D8E8">
              <a:alpha val="75000"/>
            </a:srgbClr>
          </a:solidFill>
          <a:ln w="12700">
            <a:solidFill>
              <a:srgbClr val="B8D8E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084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自動建立目錄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2084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一鍵生成、更新目錄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587752"/>
            <a:ext cx="8138160" cy="0"/>
          </a:xfrm>
          <a:prstGeom prst="line">
            <a:avLst/>
          </a:prstGeom>
          <a:noFill/>
          <a:ln w="5080">
            <a:solidFill>
              <a:srgbClr val="B8D8E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8229600" y="2139696"/>
            <a:ext cx="347472" cy="347472"/>
          </a:xfrm>
          <a:prstGeom prst="ellipse">
            <a:avLst/>
          </a:prstGeom>
          <a:solidFill>
            <a:srgbClr val="B8D8E8">
              <a:alpha val="65000"/>
            </a:srgbClr>
          </a:solidFill>
          <a:ln w="12700">
            <a:solidFill>
              <a:srgbClr val="B8D8E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22960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B8D8E8">
              <a:alpha val="75000"/>
            </a:srgbClr>
          </a:solidFill>
          <a:ln w="12700">
            <a:solidFill>
              <a:srgbClr val="B8D8E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26791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插入圖表並加說明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46320" y="26791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插入、編號、交叉參照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182112"/>
            <a:ext cx="8138160" cy="0"/>
          </a:xfrm>
          <a:prstGeom prst="line">
            <a:avLst/>
          </a:prstGeom>
          <a:noFill/>
          <a:ln w="5080">
            <a:solidFill>
              <a:srgbClr val="B8D8E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8229600" y="2734056"/>
            <a:ext cx="347472" cy="347472"/>
          </a:xfrm>
          <a:prstGeom prst="ellipse">
            <a:avLst/>
          </a:prstGeom>
          <a:solidFill>
            <a:srgbClr val="B8D8E8">
              <a:alpha val="65000"/>
            </a:srgbClr>
          </a:solidFill>
          <a:ln w="12700">
            <a:solidFill>
              <a:srgbClr val="B8D8E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822960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🖼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3337560"/>
            <a:ext cx="365760" cy="365760"/>
          </a:xfrm>
          <a:prstGeom prst="ellipse">
            <a:avLst/>
          </a:prstGeom>
          <a:solidFill>
            <a:srgbClr val="B8D8E8">
              <a:alpha val="75000"/>
            </a:srgbClr>
          </a:solidFill>
          <a:ln w="12700">
            <a:solidFill>
              <a:srgbClr val="B8D8E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5029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32735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頁首、頁尾與頁碼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846320" y="32735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格式化頁碼、章節設定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776472"/>
            <a:ext cx="8138160" cy="0"/>
          </a:xfrm>
          <a:prstGeom prst="line">
            <a:avLst/>
          </a:prstGeom>
          <a:noFill/>
          <a:ln w="5080">
            <a:solidFill>
              <a:srgbClr val="B8D8E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8229600" y="3328416"/>
            <a:ext cx="347472" cy="347472"/>
          </a:xfrm>
          <a:prstGeom prst="ellipse">
            <a:avLst/>
          </a:prstGeom>
          <a:solidFill>
            <a:srgbClr val="B8D8E8">
              <a:alpha val="65000"/>
            </a:srgbClr>
          </a:solidFill>
          <a:ln w="12700">
            <a:solidFill>
              <a:srgbClr val="B8D8E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8229600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📑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3931920"/>
            <a:ext cx="365760" cy="365760"/>
          </a:xfrm>
          <a:prstGeom prst="ellipse">
            <a:avLst/>
          </a:prstGeom>
          <a:solidFill>
            <a:srgbClr val="B8D8E8">
              <a:alpha val="75000"/>
            </a:srgbClr>
          </a:solidFill>
          <a:ln w="12700">
            <a:solidFill>
              <a:srgbClr val="B8D8E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029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5840" y="3867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引用文獻與參考書目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846320" y="386791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文獻管理、書目格式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370832"/>
            <a:ext cx="8138160" cy="0"/>
          </a:xfrm>
          <a:prstGeom prst="line">
            <a:avLst/>
          </a:prstGeom>
          <a:noFill/>
          <a:ln w="5080">
            <a:solidFill>
              <a:srgbClr val="B8D8E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8229600" y="3922776"/>
            <a:ext cx="347472" cy="347472"/>
          </a:xfrm>
          <a:prstGeom prst="ellipse">
            <a:avLst/>
          </a:prstGeom>
          <a:solidFill>
            <a:srgbClr val="B8D8E8">
              <a:alpha val="65000"/>
            </a:srgbClr>
          </a:solidFill>
          <a:ln w="12700">
            <a:solidFill>
              <a:srgbClr val="B8D8E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822960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📚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02920" y="4526280"/>
            <a:ext cx="365760" cy="365760"/>
          </a:xfrm>
          <a:prstGeom prst="ellipse">
            <a:avLst/>
          </a:prstGeom>
          <a:solidFill>
            <a:srgbClr val="B8D8E8">
              <a:alpha val="75000"/>
            </a:srgbClr>
          </a:solidFill>
          <a:ln w="12700">
            <a:solidFill>
              <a:srgbClr val="B8D8E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5029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" y="44622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最終校稿與輸出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846320" y="44622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拼字檢查、匯出 PDF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4517136"/>
            <a:ext cx="347472" cy="347472"/>
          </a:xfrm>
          <a:prstGeom prst="ellipse">
            <a:avLst/>
          </a:prstGeom>
          <a:solidFill>
            <a:srgbClr val="B8D8E8">
              <a:alpha val="65000"/>
            </a:srgbClr>
          </a:solidFill>
          <a:ln w="12700">
            <a:solidFill>
              <a:srgbClr val="B8D8E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8229600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0" cy="384048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10896" y="356616"/>
            <a:ext cx="4133088" cy="413308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800" dirty="0"/>
          </a:p>
        </p:txBody>
      </p:sp>
      <p:sp>
        <p:nvSpPr>
          <p:cNvPr id="5" name="Shape 3"/>
          <p:cNvSpPr/>
          <p:nvPr/>
        </p:nvSpPr>
        <p:spPr>
          <a:xfrm>
            <a:off x="3657600" y="594360"/>
            <a:ext cx="384048" cy="384048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0520" y="3520440"/>
            <a:ext cx="530352" cy="53035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589520" y="457200"/>
            <a:ext cx="1143000" cy="114300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589520" y="457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2D45"/>
                </a:solidFill>
              </a:rPr>
              <a:t>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頁面設定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4389120" cy="0"/>
          </a:xfrm>
          <a:prstGeom prst="line">
            <a:avLst/>
          </a:prstGeom>
          <a:noFill/>
          <a:ln w="15240">
            <a:solidFill>
              <a:srgbClr val="3A38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E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頁面設定基礎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16636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9664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379976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828032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84048" y="1115568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115568"/>
            <a:ext cx="2743200" cy="548640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84048" y="1115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E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紙張大小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" y="2286000"/>
            <a:ext cx="2468880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21208" y="2359152"/>
            <a:ext cx="24688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「版面配置」→「大小」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設為 A4（21 × 29.7 cm）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台灣學術論文標準規格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36976" y="1115568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36976" y="1115568"/>
            <a:ext cx="2743200" cy="548640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36976" y="1115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74136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E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邊界設定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74136" y="2286000"/>
            <a:ext cx="2468880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374136" y="2359152"/>
            <a:ext cx="24688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「邊界」→「自訂邊界」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 2.54 cm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 3 cm  右 2.5 cm（APA）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9904" y="1115568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089904" y="1115568"/>
            <a:ext cx="2743200" cy="548640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089904" y="1115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27064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E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字型與行距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27064" y="2286000"/>
            <a:ext cx="2468880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227064" y="2359152"/>
            <a:ext cx="24688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「常用」→「字型」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標楷體 12pt 或 Times New Roman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行距：1.5 倍或 2 倍行距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84048" y="4754880"/>
            <a:ext cx="8375904" cy="228600"/>
          </a:xfrm>
          <a:prstGeom prst="rect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首行縮排：「格式」→「段落」→「縮排」→ 第一行 2 字元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0" cy="384048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10896" y="356616"/>
            <a:ext cx="4133088" cy="413308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800" dirty="0"/>
          </a:p>
        </p:txBody>
      </p:sp>
      <p:sp>
        <p:nvSpPr>
          <p:cNvPr id="5" name="Shape 3"/>
          <p:cNvSpPr/>
          <p:nvPr/>
        </p:nvSpPr>
        <p:spPr>
          <a:xfrm>
            <a:off x="3657600" y="594360"/>
            <a:ext cx="384048" cy="384048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0520" y="3520440"/>
            <a:ext cx="530352" cy="53035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589520" y="457200"/>
            <a:ext cx="1143000" cy="114300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589520" y="457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2D45"/>
                </a:solidFill>
              </a:rPr>
              <a:t>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套用樣式與格式化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4389120" cy="0"/>
          </a:xfrm>
          <a:prstGeom prst="line">
            <a:avLst/>
          </a:prstGeom>
          <a:noFill/>
          <a:ln w="15240">
            <a:solidFill>
              <a:srgbClr val="3A38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E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標題樣式層級說明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16636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9664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379976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828032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84048" y="1143000"/>
            <a:ext cx="4114800" cy="621792"/>
          </a:xfrm>
          <a:prstGeom prst="rect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11430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　緒論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26280" y="1453896"/>
            <a:ext cx="274320" cy="0"/>
          </a:xfrm>
          <a:prstGeom prst="line">
            <a:avLst/>
          </a:prstGeom>
          <a:noFill/>
          <a:ln w="1016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28032" y="12527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 1（Heading 1）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1911096"/>
            <a:ext cx="3840480" cy="621792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22960" y="19110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 研究背景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2221992"/>
            <a:ext cx="274320" cy="0"/>
          </a:xfrm>
          <a:prstGeom prst="line">
            <a:avLst/>
          </a:prstGeom>
          <a:noFill/>
          <a:ln w="1016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828032" y="20208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 2（Heading 2）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" y="2679192"/>
            <a:ext cx="3566160" cy="621792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097280" y="26791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D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1.1.1 問題描述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2990088"/>
            <a:ext cx="274320" cy="0"/>
          </a:xfrm>
          <a:prstGeom prst="line">
            <a:avLst/>
          </a:prstGeom>
          <a:noFill/>
          <a:ln w="1016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2788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 3（Heading 3）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447288"/>
            <a:ext cx="4114800" cy="621792"/>
          </a:xfrm>
          <a:prstGeom prst="rect">
            <a:avLst/>
          </a:prstGeom>
          <a:solidFill>
            <a:srgbClr val="DDD9CE"/>
          </a:solidFill>
          <a:ln w="12700">
            <a:solidFill>
              <a:srgbClr val="DDD9C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4472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本研究旨在探討……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758184"/>
            <a:ext cx="274320" cy="0"/>
          </a:xfrm>
          <a:prstGeom prst="line">
            <a:avLst/>
          </a:prstGeom>
          <a:noFill/>
          <a:ln w="1016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828032" y="3557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內文（Body Text）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1143000"/>
            <a:ext cx="39776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800600" y="1143000"/>
            <a:ext cx="3977640" cy="457200"/>
          </a:xfrm>
          <a:prstGeom prst="rect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如何套用樣式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19472" y="1801368"/>
            <a:ext cx="219456" cy="219456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230368" y="17099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選取要格式化的文字段落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19472" y="2103120"/>
            <a:ext cx="3749040" cy="0"/>
          </a:xfrm>
          <a:prstGeom prst="line">
            <a:avLst/>
          </a:prstGeom>
          <a:noFill/>
          <a:ln w="381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919472" y="2258568"/>
            <a:ext cx="219456" cy="219456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230368" y="21671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點選「常用」索引標籤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19472" y="2560320"/>
            <a:ext cx="3749040" cy="0"/>
          </a:xfrm>
          <a:prstGeom prst="line">
            <a:avLst/>
          </a:prstGeom>
          <a:noFill/>
          <a:ln w="381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4919472" y="2715768"/>
            <a:ext cx="219456" cy="219456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230368" y="26243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找到「樣式」群組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19472" y="3017520"/>
            <a:ext cx="3749040" cy="0"/>
          </a:xfrm>
          <a:prstGeom prst="line">
            <a:avLst/>
          </a:prstGeom>
          <a:noFill/>
          <a:ln w="381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4919472" y="3172968"/>
            <a:ext cx="219456" cy="219456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230368" y="30815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點對應樣式（標題 1、2、3…）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19472" y="3474720"/>
            <a:ext cx="3749040" cy="0"/>
          </a:xfrm>
          <a:prstGeom prst="line">
            <a:avLst/>
          </a:prstGeom>
          <a:noFill/>
          <a:ln w="381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4919472" y="3630168"/>
            <a:ext cx="219456" cy="219456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230368" y="3538728"/>
            <a:ext cx="3419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右鍵「修改樣式」可批次調整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84048" y="4754880"/>
            <a:ext cx="8375904" cy="228600"/>
          </a:xfrm>
          <a:prstGeom prst="rect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548640" y="4754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善用樣式的最大優點：目錄可自動生成，一個樣式修改即可更新全篇格式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0" cy="384048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10896" y="356616"/>
            <a:ext cx="4133088" cy="413308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800" dirty="0"/>
          </a:p>
        </p:txBody>
      </p:sp>
      <p:sp>
        <p:nvSpPr>
          <p:cNvPr id="5" name="Shape 3"/>
          <p:cNvSpPr/>
          <p:nvPr/>
        </p:nvSpPr>
        <p:spPr>
          <a:xfrm>
            <a:off x="3657600" y="594360"/>
            <a:ext cx="384048" cy="384048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0520" y="3520440"/>
            <a:ext cx="530352" cy="53035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589520" y="457200"/>
            <a:ext cx="1143000" cy="114300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589520" y="457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2D45"/>
                </a:solidFill>
              </a:rPr>
              <a:t>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自動建立目錄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4389120" cy="0"/>
          </a:xfrm>
          <a:prstGeom prst="line">
            <a:avLst/>
          </a:prstGeom>
          <a:noFill/>
          <a:ln w="15240">
            <a:solidFill>
              <a:srgbClr val="3A38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E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目錄自動化四步驟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16636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9664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379976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828032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84048" y="111556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115568"/>
            <a:ext cx="73152" cy="1627632"/>
          </a:xfrm>
          <a:prstGeom prst="rect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1335024"/>
            <a:ext cx="621792" cy="62179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335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8448" y="12527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套用標題樣式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98448" y="1645920"/>
            <a:ext cx="3108960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298448" y="170992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確認各章節已套用標題 1、2、3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是目錄自動生成的基礎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91456" y="111556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791456" y="1115568"/>
            <a:ext cx="73152" cy="1627632"/>
          </a:xfrm>
          <a:prstGeom prst="rect">
            <a:avLst/>
          </a:prstGeom>
          <a:solidFill>
            <a:srgbClr val="3A7BAD"/>
          </a:solidFill>
          <a:ln w="12700">
            <a:solidFill>
              <a:srgbClr val="3A7B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956048" y="1335024"/>
            <a:ext cx="621792" cy="621792"/>
          </a:xfrm>
          <a:prstGeom prst="ellipse">
            <a:avLst/>
          </a:prstGeom>
          <a:solidFill>
            <a:srgbClr val="3A7BAD"/>
          </a:solidFill>
          <a:ln w="12700">
            <a:solidFill>
              <a:srgbClr val="3A7B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956048" y="1335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05856" y="12527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插入自動目錄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05856" y="1645920"/>
            <a:ext cx="3108960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705856" y="170992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「參考資料」→「目錄」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選擇自動目錄 1 或 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294436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84048" y="2944368"/>
            <a:ext cx="73152" cy="1627632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3163824"/>
            <a:ext cx="621792" cy="621792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1638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8448" y="30815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更新目錄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298448" y="3474720"/>
            <a:ext cx="3108960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1298448" y="353872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修改後右鍵目錄 →「更新欄位」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或全選（Ctrl+A）→ F9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91456" y="294436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791456" y="2944368"/>
            <a:ext cx="73152" cy="1627632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4956048" y="3163824"/>
            <a:ext cx="621792" cy="62179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956048" y="31638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05856" y="30815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設定頁碼格式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05856" y="3474720"/>
            <a:ext cx="3108960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5705856" y="353872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目錄頁：羅馬數字（ⅰ、ⅱ…）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正文頁：阿拉伯數字從 1 開始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84048" y="4791456"/>
            <a:ext cx="8375904" cy="201168"/>
          </a:xfrm>
          <a:prstGeom prst="rect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48640" y="47914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完稿後務必執行：Ctrl + A → F9，確保所有欄位（目錄、圖表編號）全部更新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0" cy="384048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10896" y="356616"/>
            <a:ext cx="4133088" cy="413308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800" dirty="0"/>
          </a:p>
        </p:txBody>
      </p:sp>
      <p:sp>
        <p:nvSpPr>
          <p:cNvPr id="5" name="Shape 3"/>
          <p:cNvSpPr/>
          <p:nvPr/>
        </p:nvSpPr>
        <p:spPr>
          <a:xfrm>
            <a:off x="3657600" y="594360"/>
            <a:ext cx="384048" cy="384048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0520" y="3520440"/>
            <a:ext cx="530352" cy="53035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589520" y="457200"/>
            <a:ext cx="1143000" cy="114300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589520" y="457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2D45"/>
                </a:solidFill>
              </a:rPr>
              <a:t>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插入圖表並加上說明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4389120" cy="0"/>
          </a:xfrm>
          <a:prstGeom prst="line">
            <a:avLst/>
          </a:prstGeom>
          <a:noFill/>
          <a:ln w="15240">
            <a:solidFill>
              <a:srgbClr val="3A38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E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圖表插入與標號規範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16636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9664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379976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828032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84048" y="1115568"/>
            <a:ext cx="402336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115568"/>
            <a:ext cx="4023360" cy="457200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21208" y="1115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 圖片 / 圖表插入步驟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1783080"/>
            <a:ext cx="256032" cy="256032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21208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「插入」→「圖片」選擇來源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" y="2121408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21208" y="2276856"/>
            <a:ext cx="256032" cy="256032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21208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18541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選取圖片 → 右鍵「插入標號」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" y="2615184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521208" y="2770632"/>
            <a:ext cx="256032" cy="256032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21208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679192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標籤：圖　位置：所選項目下方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" y="3108960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21208" y="3264408"/>
            <a:ext cx="256032" cy="256032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21208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17296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格式：圖 1-1 XXX示意圖（置中）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" y="3602736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521208" y="3758184"/>
            <a:ext cx="256032" cy="256032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21208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3666744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正文以「（如圖 1-1）」交叉參照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36592" y="1115568"/>
            <a:ext cx="402336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4736592" y="1115568"/>
            <a:ext cx="4023360" cy="457200"/>
          </a:xfrm>
          <a:prstGeom prst="rect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873752" y="1115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 表格規範（APA 三線表）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73752" y="1783080"/>
            <a:ext cx="256032" cy="25603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4873752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9512" y="16916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標號置於表格「上方」（圖則在下）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73752" y="2121408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4873752" y="2276856"/>
            <a:ext cx="256032" cy="25603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4873752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9512" y="218541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格式：表 1-1 XXX 比較表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73752" y="2615184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4873752" y="2770632"/>
            <a:ext cx="256032" cy="25603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4873752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39512" y="267919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僅保留頂線、底線、標題底線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73752" y="3108960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4873752" y="3264408"/>
            <a:ext cx="256032" cy="25603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4873752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9512" y="31729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「插入」→「表格」→ 套用樣式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73752" y="3602736"/>
            <a:ext cx="3749040" cy="0"/>
          </a:xfrm>
          <a:prstGeom prst="line">
            <a:avLst/>
          </a:prstGeom>
          <a:noFill/>
          <a:ln w="4445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4873752" y="3758184"/>
            <a:ext cx="256032" cy="25603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4873752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39512" y="366674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數字欄靠右、文字欄靠左對齊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84048" y="4791456"/>
            <a:ext cx="8375904" cy="201168"/>
          </a:xfrm>
          <a:prstGeom prst="rect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548640" y="47914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圖說在圖下方，表說在表上方；兩者各自獨立編號（圖 1-1、表 1-1 不相混）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0" cy="384048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10896" y="356616"/>
            <a:ext cx="4133088" cy="413308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800" dirty="0"/>
          </a:p>
        </p:txBody>
      </p:sp>
      <p:sp>
        <p:nvSpPr>
          <p:cNvPr id="5" name="Shape 3"/>
          <p:cNvSpPr/>
          <p:nvPr/>
        </p:nvSpPr>
        <p:spPr>
          <a:xfrm>
            <a:off x="3657600" y="594360"/>
            <a:ext cx="384048" cy="384048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0520" y="3520440"/>
            <a:ext cx="530352" cy="53035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589520" y="457200"/>
            <a:ext cx="1143000" cy="114300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589520" y="457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2D45"/>
                </a:solidFill>
              </a:rPr>
              <a:t>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頁首、頁尾與頁碼設定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4389120" cy="0"/>
          </a:xfrm>
          <a:prstGeom prst="line">
            <a:avLst/>
          </a:prstGeom>
          <a:noFill/>
          <a:ln w="15240">
            <a:solidFill>
              <a:srgbClr val="3A38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E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分節與頁碼格式設定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16636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9664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379976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828032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84048" y="1115568"/>
            <a:ext cx="3337560" cy="3611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BCADB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115568"/>
            <a:ext cx="3337560" cy="566928"/>
          </a:xfrm>
          <a:prstGeom prst="rect">
            <a:avLst/>
          </a:prstGeom>
          <a:solidFill>
            <a:srgbClr val="DDD9CE"/>
          </a:solidFill>
          <a:ln w="12700">
            <a:solidFill>
              <a:srgbClr val="DDD9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84048" y="1682496"/>
            <a:ext cx="3337560" cy="0"/>
          </a:xfrm>
          <a:prstGeom prst="line">
            <a:avLst/>
          </a:prstGeom>
          <a:noFill/>
          <a:ln w="12700">
            <a:solidFill>
              <a:srgbClr val="AABA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21208" y="12070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9E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頁首  ──  論文題目 / 章節名稱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" y="1892808"/>
            <a:ext cx="3063240" cy="0"/>
          </a:xfrm>
          <a:prstGeom prst="line">
            <a:avLst/>
          </a:prstGeom>
          <a:noFill/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21208" y="2240280"/>
            <a:ext cx="3063240" cy="0"/>
          </a:xfrm>
          <a:prstGeom prst="line">
            <a:avLst/>
          </a:prstGeom>
          <a:noFill/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21208" y="2587752"/>
            <a:ext cx="3063240" cy="0"/>
          </a:xfrm>
          <a:prstGeom prst="line">
            <a:avLst/>
          </a:prstGeom>
          <a:noFill/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21208" y="2935224"/>
            <a:ext cx="3063240" cy="0"/>
          </a:xfrm>
          <a:prstGeom prst="line">
            <a:avLst/>
          </a:prstGeom>
          <a:noFill/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21208" y="3282696"/>
            <a:ext cx="3063240" cy="0"/>
          </a:xfrm>
          <a:prstGeom prst="line">
            <a:avLst/>
          </a:prstGeom>
          <a:noFill/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521208" y="3630168"/>
            <a:ext cx="1835658" cy="0"/>
          </a:xfrm>
          <a:prstGeom prst="line">
            <a:avLst/>
          </a:prstGeom>
          <a:noFill/>
          <a:ln w="6350">
            <a:solidFill>
              <a:srgbClr val="D5D0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21208" y="18288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正文內容……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4178808"/>
            <a:ext cx="3337560" cy="0"/>
          </a:xfrm>
          <a:prstGeom prst="line">
            <a:avLst/>
          </a:prstGeom>
          <a:noFill/>
          <a:ln w="12700">
            <a:solidFill>
              <a:srgbClr val="AABAB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84048" y="4178808"/>
            <a:ext cx="3337560" cy="548640"/>
          </a:xfrm>
          <a:prstGeom prst="rect">
            <a:avLst/>
          </a:prstGeom>
          <a:solidFill>
            <a:srgbClr val="DDD9CE"/>
          </a:solidFill>
          <a:ln w="12700">
            <a:solidFill>
              <a:srgbClr val="DDD9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21208" y="423367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9E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頁尾  ──  頁碼（置中）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95628" y="423367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3 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41648" y="1115568"/>
            <a:ext cx="4709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4133088" y="1280160"/>
            <a:ext cx="457200" cy="45720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13308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0016" y="1161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進入頁首 / 頁尾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0016" y="14447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「插入」→「頁首」或「頁尾」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或直接雙擊頁面頂部 / 底部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041648" y="2029968"/>
            <a:ext cx="4709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133088" y="2194560"/>
            <a:ext cx="457200" cy="457200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13308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00016" y="2075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插入頁碼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0016" y="23591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「插入」→「頁碼」→ 選位置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羅馬數字（前言）或阿拉伯（正文）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41648" y="2944368"/>
            <a:ext cx="4709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133088" y="3108960"/>
            <a:ext cx="457200" cy="45720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13308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00016" y="2990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首頁不同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0016" y="32735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勾選「首頁不同」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封面頁不顯示頁碼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41648" y="3858768"/>
            <a:ext cx="4709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4133088" y="4023360"/>
            <a:ext cx="457200" cy="457200"/>
          </a:xfrm>
          <a:prstGeom prst="ellipse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13308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00016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分節符號分隔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0016" y="41879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「版面配置」→「分隔符號」→「下一頁」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80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每節可獨立設定頁碼格式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" y="4791456"/>
            <a:ext cx="8375904" cy="201168"/>
          </a:xfrm>
          <a:prstGeom prst="rect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548640" y="47914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前言目錄頁用羅馬數字（ⅰ ⅱ ⅲ），第一章正文起重新以阿拉伯數字 1 計算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0" cy="384048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10896" y="356616"/>
            <a:ext cx="4133088" cy="413308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800" dirty="0"/>
          </a:p>
        </p:txBody>
      </p:sp>
      <p:sp>
        <p:nvSpPr>
          <p:cNvPr id="5" name="Shape 3"/>
          <p:cNvSpPr/>
          <p:nvPr/>
        </p:nvSpPr>
        <p:spPr>
          <a:xfrm>
            <a:off x="3657600" y="594360"/>
            <a:ext cx="384048" cy="384048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0520" y="3520440"/>
            <a:ext cx="530352" cy="53035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589520" y="457200"/>
            <a:ext cx="1143000" cy="114300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589520" y="457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2D45"/>
                </a:solidFill>
              </a:rPr>
              <a:t>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引用文獻與參考書目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4389120" cy="0"/>
          </a:xfrm>
          <a:prstGeom prst="line">
            <a:avLst/>
          </a:prstGeom>
          <a:noFill/>
          <a:ln w="15240">
            <a:solidFill>
              <a:srgbClr val="3A38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E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E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文獻引用三大重點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16636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9664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379976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828032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84048" y="1115568"/>
            <a:ext cx="274320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84048" y="1115568"/>
            <a:ext cx="2743200" cy="548640"/>
          </a:xfrm>
          <a:prstGeom prst="rect">
            <a:avLst/>
          </a:prstGeom>
          <a:solidFill>
            <a:srgbClr val="5B9EC9"/>
          </a:solidFill>
          <a:ln w="12700">
            <a:solidFill>
              <a:srgbClr val="5B9E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84048" y="1115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" y="1801368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E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內建引用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" y="2221992"/>
            <a:ext cx="2496312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12064" y="2286000"/>
            <a:ext cx="24963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「參考資料」→「插入引文」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→「新增來源」填寫書目資訊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完稿後「書目」→「插入書目」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6976" y="1115568"/>
            <a:ext cx="274320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36976" y="1115568"/>
            <a:ext cx="2743200" cy="548640"/>
          </a:xfrm>
          <a:prstGeom prst="rect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36976" y="1115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64992" y="1801368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D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APA 第 7 版格式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4992" y="2221992"/>
            <a:ext cx="2496312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364992" y="2286000"/>
            <a:ext cx="24963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書籍：作者（年）。《書名》。出版社。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期刊：Author (Year). Title. Journal, V(N), pp.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網頁：機構（年）。文件名。取自 URL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9904" y="1115568"/>
            <a:ext cx="274320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089904" y="1115568"/>
            <a:ext cx="2743200" cy="548640"/>
          </a:xfrm>
          <a:prstGeom prst="rect">
            <a:avLst/>
          </a:prstGeom>
          <a:solidFill>
            <a:srgbClr val="3A7BAD"/>
          </a:solidFill>
          <a:ln w="12700">
            <a:solidFill>
              <a:srgbClr val="3A7B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089904" y="1115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17920" y="1801368"/>
            <a:ext cx="2496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文中引用格式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2221992"/>
            <a:ext cx="2496312" cy="0"/>
          </a:xfrm>
          <a:prstGeom prst="line">
            <a:avLst/>
          </a:prstGeom>
          <a:noFill/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217920" y="2286000"/>
            <a:ext cx="24963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中文：（陳大明，2020，頁 45）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英文：(Chen, 2020, p. 45)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多作者：（Wang et al., 2021）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84048" y="4791456"/>
            <a:ext cx="8375904" cy="201168"/>
          </a:xfrm>
          <a:prstGeom prst="rect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48640" y="47914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建議使用 Zotero 或 Mendeley 管理文獻資料庫，完稿前再統一匯入 Word 生成書目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3840480" cy="3840480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10896" y="356616"/>
            <a:ext cx="4133088" cy="413308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800" dirty="0"/>
          </a:p>
        </p:txBody>
      </p:sp>
      <p:sp>
        <p:nvSpPr>
          <p:cNvPr id="5" name="Shape 3"/>
          <p:cNvSpPr/>
          <p:nvPr/>
        </p:nvSpPr>
        <p:spPr>
          <a:xfrm>
            <a:off x="3657600" y="594360"/>
            <a:ext cx="384048" cy="384048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0520" y="3520440"/>
            <a:ext cx="530352" cy="530352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589520" y="457200"/>
            <a:ext cx="1143000" cy="114300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589520" y="457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2D45"/>
                </a:solidFill>
              </a:rPr>
              <a:t>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最終校稿與輸出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834640"/>
            <a:ext cx="4389120" cy="0"/>
          </a:xfrm>
          <a:prstGeom prst="line">
            <a:avLst/>
          </a:prstGeom>
          <a:noFill/>
          <a:ln w="15240">
            <a:solidFill>
              <a:srgbClr val="3A38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E6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E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完稿確認清單與 PDF 輸出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166360" y="850392"/>
            <a:ext cx="3474720" cy="0"/>
          </a:xfrm>
          <a:prstGeom prst="line">
            <a:avLst/>
          </a:prstGeom>
          <a:noFill/>
          <a:ln w="762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169664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379976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836676"/>
            <a:ext cx="118872" cy="11887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828032" y="822960"/>
            <a:ext cx="146304" cy="146304"/>
          </a:xfrm>
          <a:prstGeom prst="ellipse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D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完稿前確認清單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554480"/>
            <a:ext cx="4160520" cy="420624"/>
          </a:xfrm>
          <a:prstGeom prst="rect">
            <a:avLst/>
          </a:prstGeom>
          <a:solidFill>
            <a:srgbClr val="EBF5EC"/>
          </a:solidFill>
          <a:ln w="6350">
            <a:solidFill>
              <a:srgbClr val="B8DC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75488" y="1627632"/>
            <a:ext cx="274320" cy="2743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75488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" y="1554480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6B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拼字與文法檢查（F7）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2057400"/>
            <a:ext cx="4160520" cy="420624"/>
          </a:xfrm>
          <a:prstGeom prst="rect">
            <a:avLst/>
          </a:prstGeom>
          <a:solidFill>
            <a:srgbClr val="EBF5EC"/>
          </a:solidFill>
          <a:ln w="6350">
            <a:solidFill>
              <a:srgbClr val="B8DC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75488" y="2130552"/>
            <a:ext cx="274320" cy="2743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75488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" y="2057400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6B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更新所有欄位（Ctrl+A → F9）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" y="2560320"/>
            <a:ext cx="4160520" cy="420624"/>
          </a:xfrm>
          <a:prstGeom prst="rect">
            <a:avLst/>
          </a:prstGeom>
          <a:solidFill>
            <a:srgbClr val="EBF5EC"/>
          </a:solidFill>
          <a:ln w="6350">
            <a:solidFill>
              <a:srgbClr val="B8DC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75488" y="2633472"/>
            <a:ext cx="274320" cy="2743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75488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2560320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6B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確認目錄頁碼正確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84048" y="3063240"/>
            <a:ext cx="4160520" cy="420624"/>
          </a:xfrm>
          <a:prstGeom prst="rect">
            <a:avLst/>
          </a:prstGeom>
          <a:solidFill>
            <a:srgbClr val="EBF5EC"/>
          </a:solidFill>
          <a:ln w="6350">
            <a:solidFill>
              <a:srgbClr val="B8DC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75488" y="3136392"/>
            <a:ext cx="274320" cy="2743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7548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" y="3063240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6B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圖表說明編號連續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84048" y="3566160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75488" y="3639312"/>
            <a:ext cx="274320" cy="27432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75488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7824" y="3566160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列印預覽確認版面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84048" y="4069080"/>
            <a:ext cx="4160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C2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75488" y="4142232"/>
            <a:ext cx="274320" cy="274320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7548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" y="4069080"/>
            <a:ext cx="3538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8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另存為 PDF 最終版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64608" y="1115568"/>
            <a:ext cx="3886200" cy="3602736"/>
          </a:xfrm>
          <a:prstGeom prst="rect">
            <a:avLst/>
          </a:prstGeom>
          <a:solidFill>
            <a:srgbClr val="2E2D45"/>
          </a:solidFill>
          <a:ln w="12700">
            <a:solidFill>
              <a:srgbClr val="2E2D45"/>
            </a:solidFill>
            <a:prstDash val="solid"/>
          </a:ln>
          <a:effectLst>
            <a:outerShdw blurRad="1270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864608" y="1115568"/>
            <a:ext cx="3886200" cy="475488"/>
          </a:xfrm>
          <a:prstGeom prst="rect">
            <a:avLst/>
          </a:prstGeom>
          <a:solidFill>
            <a:srgbClr val="B8D8E8">
              <a:alpha val="92000"/>
            </a:srgbClr>
          </a:solidFill>
          <a:ln w="12700">
            <a:solidFill>
              <a:srgbClr val="B8D8E8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5001768" y="11155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D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 PDF 步驟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01768" y="17099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 </a:t>
            </a:r>
            <a:r>
              <a:rPr lang="en-US" sz="1250" dirty="0">
                <a:solidFill>
                  <a:srgbClr val="C0D0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「檔案」→「另存新檔」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47488" y="2121408"/>
            <a:ext cx="3566160" cy="0"/>
          </a:xfrm>
          <a:prstGeom prst="line">
            <a:avLst/>
          </a:prstGeom>
          <a:noFill/>
          <a:ln w="508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5001768" y="21854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</a:t>
            </a:r>
            <a:r>
              <a:rPr lang="en-US" sz="1250" dirty="0">
                <a:solidFill>
                  <a:srgbClr val="C0D0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檔案類型選「PDF (*.pdf)」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047488" y="2596896"/>
            <a:ext cx="3566160" cy="0"/>
          </a:xfrm>
          <a:prstGeom prst="line">
            <a:avLst/>
          </a:prstGeom>
          <a:noFill/>
          <a:ln w="508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001768" y="26609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</a:t>
            </a:r>
            <a:r>
              <a:rPr lang="en-US" sz="1250" dirty="0">
                <a:solidFill>
                  <a:srgbClr val="C0D0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點「選項」→ 確認包含書籤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47488" y="3072384"/>
            <a:ext cx="3566160" cy="0"/>
          </a:xfrm>
          <a:prstGeom prst="line">
            <a:avLst/>
          </a:prstGeom>
          <a:noFill/>
          <a:ln w="508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5001768" y="3136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 </a:t>
            </a:r>
            <a:r>
              <a:rPr lang="en-US" sz="1250" dirty="0">
                <a:solidFill>
                  <a:srgbClr val="C0D0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選「最佳化列印品質」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047488" y="3547872"/>
            <a:ext cx="3566160" cy="0"/>
          </a:xfrm>
          <a:prstGeom prst="line">
            <a:avLst/>
          </a:prstGeom>
          <a:noFill/>
          <a:ln w="508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5001768" y="36118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 </a:t>
            </a:r>
            <a:r>
              <a:rPr lang="en-US" sz="1250" dirty="0">
                <a:solidFill>
                  <a:srgbClr val="C0D0D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按「儲存」完成輸出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384048" y="4791456"/>
            <a:ext cx="8375904" cy="201168"/>
          </a:xfrm>
          <a:prstGeom prst="rect">
            <a:avLst/>
          </a:prstGeom>
          <a:solidFill>
            <a:srgbClr val="B8D8E8">
              <a:alpha val="80000"/>
            </a:srgbClr>
          </a:solidFill>
          <a:ln w="12700">
            <a:solidFill>
              <a:srgbClr val="B8D8E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548640" y="47914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C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⌨  快捷鍵：Ctrl+S 儲存  ｜  Ctrl+P 列印  ｜  F7 拼字  ｜  Ctrl+A → F9 更新欄位  ｜  Ctrl+Z 復原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0" y="182880"/>
            <a:ext cx="4206240" cy="420624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651760" y="365760"/>
            <a:ext cx="3840480" cy="38404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8D8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834640" y="548640"/>
            <a:ext cx="3474720" cy="3474720"/>
          </a:xfrm>
          <a:prstGeom prst="ellipse">
            <a:avLst/>
          </a:prstGeom>
          <a:solidFill>
            <a:srgbClr val="FFFFFF">
              <a:alpha val="0"/>
            </a:srgbClr>
          </a:solidFill>
          <a:ln w="3810">
            <a:solidFill>
              <a:srgbClr val="B8D8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834640" y="320040"/>
            <a:ext cx="3474720" cy="3474720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834640" y="685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834640" y="15727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794760"/>
            <a:ext cx="621792" cy="62179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33272" y="4105656"/>
            <a:ext cx="603504" cy="0"/>
          </a:xfrm>
          <a:prstGeom prst="line">
            <a:avLst/>
          </a:prstGeom>
          <a:noFill/>
          <a:ln w="10160">
            <a:solidFill>
              <a:srgbClr val="B8D8E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82880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頁面設定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36776" y="3794760"/>
            <a:ext cx="621792" cy="62179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636776" y="3794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58568" y="4105656"/>
            <a:ext cx="603504" cy="0"/>
          </a:xfrm>
          <a:prstGeom prst="line">
            <a:avLst/>
          </a:prstGeom>
          <a:noFill/>
          <a:ln w="10160">
            <a:solidFill>
              <a:srgbClr val="B8D8E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408176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樣式格式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62072" y="3794760"/>
            <a:ext cx="621792" cy="62179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862072" y="3794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83864" y="4105656"/>
            <a:ext cx="603504" cy="0"/>
          </a:xfrm>
          <a:prstGeom prst="line">
            <a:avLst/>
          </a:prstGeom>
          <a:noFill/>
          <a:ln w="10160">
            <a:solidFill>
              <a:srgbClr val="B8D8E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633472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自動目錄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87368" y="3794760"/>
            <a:ext cx="621792" cy="62179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087368" y="3794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4105656"/>
            <a:ext cx="603504" cy="0"/>
          </a:xfrm>
          <a:prstGeom prst="line">
            <a:avLst/>
          </a:prstGeom>
          <a:noFill/>
          <a:ln w="10160">
            <a:solidFill>
              <a:srgbClr val="B8D8E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858768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圖表標號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12664" y="3794760"/>
            <a:ext cx="621792" cy="62179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312664" y="3794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34456" y="4105656"/>
            <a:ext cx="603504" cy="0"/>
          </a:xfrm>
          <a:prstGeom prst="line">
            <a:avLst/>
          </a:prstGeom>
          <a:noFill/>
          <a:ln w="10160">
            <a:solidFill>
              <a:srgbClr val="B8D8E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084064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頁首頁尾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37960" y="3794760"/>
            <a:ext cx="621792" cy="621792"/>
          </a:xfrm>
          <a:prstGeom prst="ellipse">
            <a:avLst/>
          </a:prstGeom>
          <a:solidFill>
            <a:srgbClr val="3D3C5A"/>
          </a:solidFill>
          <a:ln w="12700">
            <a:solidFill>
              <a:srgbClr val="3D3C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537960" y="3794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59752" y="4105656"/>
            <a:ext cx="603504" cy="0"/>
          </a:xfrm>
          <a:prstGeom prst="line">
            <a:avLst/>
          </a:prstGeom>
          <a:noFill/>
          <a:ln w="10160">
            <a:solidFill>
              <a:srgbClr val="B8D8E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309360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引用書目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63256" y="3794760"/>
            <a:ext cx="621792" cy="621792"/>
          </a:xfrm>
          <a:prstGeom prst="ellipse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7763256" y="37947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2D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34656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PDF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A7A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掌握七步驟，讓 Microsoft Word 成為論文寫作最佳助手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如螢幕大小 (16:9)</PresentationFormat>
  <Paragraphs>229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Microsoft JhengHei</vt:lpstr>
      <vt:lpstr>Aptos</vt:lpstr>
      <vt:lpstr>Arial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如何用 Word 撰寫論文或報告</dc:title>
  <dc:subject>PptxGenJS Presentation</dc:subject>
  <dc:creator>PptxGenJS</dc:creator>
  <cp:lastModifiedBy>李柏毅</cp:lastModifiedBy>
  <cp:revision>2</cp:revision>
  <dcterms:created xsi:type="dcterms:W3CDTF">2026-03-16T11:51:29Z</dcterms:created>
  <dcterms:modified xsi:type="dcterms:W3CDTF">2026-03-16T12:14:07Z</dcterms:modified>
</cp:coreProperties>
</file>